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A2342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A2342"/>
                </a:solidFill>
                <a:latin typeface="Arial"/>
              </a:rPr>
              <a:t>Cost Component Breakdown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 Breakdown (%)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Surgery</c:v>
                  </c:pt>
                  <c:pt idx="1">
                    <c:v>Medication</c:v>
                  </c:pt>
                  <c:pt idx="2">
                    <c:v>Room Charges</c:v>
                  </c:pt>
                  <c:pt idx="3">
                    <c:v>Consultation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52</c:v>
                </c:pt>
                <c:pt idx="1">
                  <c:v>28</c:v>
                </c:pt>
                <c:pt idx="2">
                  <c:v>14</c:v>
                </c:pt>
                <c:pt idx="3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A2342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A2342"/>
                </a:solidFill>
                <a:latin typeface="Arial"/>
              </a:rPr>
              <a:t>Admissions by Department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Admissions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bubble3D val="0"/>
            <c:spPr>
              <a:solidFill>
                <a:srgbClr val="065A82"/>
              </a:solidFill>
              <a:effectLst/>
            </c:spPr>
          </c:dPt>
          <c:dPt>
            <c:idx val="3"/>
            <c:bubble3D val="0"/>
            <c:spPr>
              <a:solidFill>
                <a:srgbClr val="02C39A"/>
              </a:solidFill>
              <a:effectLst/>
            </c:spPr>
          </c:dPt>
          <c:dPt>
            <c:idx val="4"/>
            <c:bubble3D val="0"/>
            <c:spPr>
              <a:solidFill>
                <a:srgbClr val="02A886"/>
              </a:solidFill>
              <a:effectLst/>
            </c:spPr>
          </c:dPt>
          <c:dPt>
            <c:idx val="5"/>
            <c:bubble3D val="0"/>
            <c:spPr>
              <a:solidFill>
                <a:srgbClr val="64748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Cardiology</c:v>
                </c:pt>
                <c:pt idx="1">
                  <c:v>Oncology</c:v>
                </c:pt>
                <c:pt idx="2">
                  <c:v>Neurology</c:v>
                </c:pt>
                <c:pt idx="3">
                  <c:v>Orthopedics</c:v>
                </c:pt>
                <c:pt idx="4">
                  <c:v>Pediatrics</c:v>
                </c:pt>
                <c:pt idx="5">
                  <c:v>Others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12</c:v>
                </c:pt>
                <c:pt idx="1">
                  <c:v>10</c:v>
                </c:pt>
                <c:pt idx="2">
                  <c:v>9</c:v>
                </c:pt>
                <c:pt idx="3">
                  <c:v>8</c:v>
                </c:pt>
                <c:pt idx="4">
                  <c:v>7</c:v>
                </c:pt>
                <c:pt idx="5">
                  <c:v>14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822960"/>
            <a:ext cx="164592" cy="6400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005840"/>
            <a:ext cx="548640" cy="1645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63040" y="82296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Data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463040" y="160020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Project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1463040" y="251460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2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SQL Analytics | MySQL 8.0+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20040" y="440740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20040" y="47091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AF0"/>
                </a:solidFill>
              </a:rPr>
              <a:t>Tables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68880" y="440740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200+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468880" y="47091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AF0"/>
                </a:solidFill>
              </a:rPr>
              <a:t>Data Rows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17720" y="440740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40+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17720" y="47091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AF0"/>
                </a:solidFill>
              </a:rPr>
              <a:t>KPI Queries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766560" y="440740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9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766560" y="47091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AF0"/>
                </a:solidFill>
              </a:rPr>
              <a:t>Analysis Sections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109728" cy="1828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7840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1344168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hospital operations — patients, admissions, billing, and staff — using MySQL to derive actionable healthcare insights.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86868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868680"/>
            <a:ext cx="109728" cy="18288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97840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37760" y="1344168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synthetic data: 50 patients, 60 admissions, 15 doctors, 20 staff, billing records, lab tests &amp; medications.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88036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880360"/>
            <a:ext cx="109728" cy="1828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99008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2920" y="3355848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8.0+  |  MySQL Workbench  |  Git &amp; GitHub  |  SQL Window Functions, CTEs, Views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288036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880360"/>
            <a:ext cx="109728" cy="18288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299008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937760" y="3355848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 production-ready SQL queries covering KPIs, trends, financial analysis, and advanced analytics.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 — 8 Tables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41148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41248"/>
            <a:ext cx="411480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7782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departments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18872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dept, location, head doctor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841248"/>
            <a:ext cx="41148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841248"/>
            <a:ext cx="411480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87782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doctors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118872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Profiles, specialization, experience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874520"/>
            <a:ext cx="41148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1874520"/>
            <a:ext cx="411480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191109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patients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" y="2221992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Demographics, blood group, contact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1874520"/>
            <a:ext cx="41148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1874520"/>
            <a:ext cx="411480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91109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admissions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2221992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Records, diagnosis, severity, LOS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2907792"/>
            <a:ext cx="41148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907792"/>
            <a:ext cx="411480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94436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billing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11480" y="3255264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insurance, payment status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2907792"/>
            <a:ext cx="41148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2907792"/>
            <a:ext cx="411480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294436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medications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46320" y="3255264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Drug, dosage, frequency per admission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3941064"/>
            <a:ext cx="41148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3941064"/>
            <a:ext cx="411480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397764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lab_tests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11480" y="4288536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Tests, results, critical status, cost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09160" y="3941064"/>
            <a:ext cx="41148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09160" y="3941064"/>
            <a:ext cx="411480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397764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staff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846320" y="4288536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Nurses, techs, admin, shift, salary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Analysis Sections — 40+ Queries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80" y="804672"/>
            <a:ext cx="2834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804672"/>
            <a:ext cx="411480" cy="1234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216152"/>
            <a:ext cx="347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89611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Demographics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128016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Gender, age groups, blood type, registrations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54680" y="804672"/>
            <a:ext cx="2834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804672"/>
            <a:ext cx="411480" cy="12344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216152"/>
            <a:ext cx="347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57600" y="89611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 KPIs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0" y="128016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LOS, readmissions, severity, peak days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804672"/>
            <a:ext cx="2834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804672"/>
            <a:ext cx="411480" cy="12344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1216152"/>
            <a:ext cx="347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629400" y="89611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Performance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29400" y="128016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critical load, bed occupancy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82880" y="2194560"/>
            <a:ext cx="2834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82880" y="2194560"/>
            <a:ext cx="411480" cy="1234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2606040"/>
            <a:ext cx="347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85800" y="228600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Performance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" y="267004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Workload, revenue, experience vs severity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154680" y="2194560"/>
            <a:ext cx="2834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54680" y="2194560"/>
            <a:ext cx="411480" cy="1234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0" y="2606040"/>
            <a:ext cx="347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657600" y="228600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Analysis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657600" y="267004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Billing, insurance, payment methods, trends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26480" y="2194560"/>
            <a:ext cx="2834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2194560"/>
            <a:ext cx="411480" cy="1234440"/>
          </a:xfrm>
          <a:prstGeom prst="rect">
            <a:avLst/>
          </a:prstGeom>
          <a:solidFill>
            <a:srgbClr val="02A886"/>
          </a:solidFill>
          <a:ln w="12700">
            <a:solidFill>
              <a:srgbClr val="02A88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72200" y="2606040"/>
            <a:ext cx="347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629400" y="228600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Trends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629400" y="267004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diagnoses, age group mapping, oncology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82880" y="3584448"/>
            <a:ext cx="2834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82880" y="3584448"/>
            <a:ext cx="411480" cy="1234440"/>
          </a:xfrm>
          <a:prstGeom prst="rect">
            <a:avLst/>
          </a:prstGeom>
          <a:solidFill>
            <a:srgbClr val="01796F"/>
          </a:solidFill>
          <a:ln w="12700">
            <a:solidFill>
              <a:srgbClr val="01796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8600" y="3995928"/>
            <a:ext cx="347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G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85800" y="367588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Test Insights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85800" y="4059936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results, cost % of bill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154680" y="3584448"/>
            <a:ext cx="2834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154680" y="3584448"/>
            <a:ext cx="411480" cy="1234440"/>
          </a:xfrm>
          <a:prstGeom prst="rect">
            <a:avLst/>
          </a:prstGeom>
          <a:solidFill>
            <a:srgbClr val="016B63"/>
          </a:solidFill>
          <a:ln w="12700">
            <a:solidFill>
              <a:srgbClr val="016B6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0" y="3995928"/>
            <a:ext cx="347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H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3657600" y="367588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Analysis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657600" y="4059936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Roles, shifts, salaries, hiring growth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126480" y="3584448"/>
            <a:ext cx="2834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126480" y="3584448"/>
            <a:ext cx="411480" cy="1234440"/>
          </a:xfrm>
          <a:prstGeom prst="rect">
            <a:avLst/>
          </a:prstGeom>
          <a:solidFill>
            <a:srgbClr val="015A55"/>
          </a:solidFill>
          <a:ln w="12700">
            <a:solidFill>
              <a:srgbClr val="015A5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72200" y="3995928"/>
            <a:ext cx="347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I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6629400" y="367588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Functions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629400" y="4059936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totals, MoM growth, RANK, NTILE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KPI Highlights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743200" cy="1828800"/>
          </a:xfrm>
          <a:prstGeom prst="rect">
            <a:avLst/>
          </a:prstGeom>
          <a:solidFill>
            <a:srgbClr val="0D2B45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27432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515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₹48L+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74320" y="176479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Billed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21945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admissions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868680"/>
            <a:ext cx="2743200" cy="1828800"/>
          </a:xfrm>
          <a:prstGeom prst="rect">
            <a:avLst/>
          </a:prstGeom>
          <a:solidFill>
            <a:srgbClr val="0D2B45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868680"/>
            <a:ext cx="27432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0515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~65%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200400" y="176479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Coverage Rate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0" y="21945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across surgical depts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868680"/>
            <a:ext cx="2743200" cy="1828800"/>
          </a:xfrm>
          <a:prstGeom prst="rect">
            <a:avLst/>
          </a:prstGeom>
          <a:solidFill>
            <a:srgbClr val="0D2B45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868680"/>
            <a:ext cx="27432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0515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8.5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6126480" y="176479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Length of Stay (days)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26480" y="21945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cases: 22+ days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880360"/>
            <a:ext cx="2743200" cy="1828800"/>
          </a:xfrm>
          <a:prstGeom prst="rect">
            <a:avLst/>
          </a:prstGeom>
          <a:solidFill>
            <a:srgbClr val="0D2B45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880360"/>
            <a:ext cx="27432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0632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274320" y="377647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Admissions Recorded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4320" y="42062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– 2024 dataset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0" y="2880360"/>
            <a:ext cx="2743200" cy="1828800"/>
          </a:xfrm>
          <a:prstGeom prst="rect">
            <a:avLst/>
          </a:prstGeom>
          <a:solidFill>
            <a:srgbClr val="0D2B45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0" y="2880360"/>
            <a:ext cx="27432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0" y="30632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3400" dirty="0"/>
          </a:p>
        </p:txBody>
      </p:sp>
      <p:sp>
        <p:nvSpPr>
          <p:cNvPr id="27" name="Text 25"/>
          <p:cNvSpPr/>
          <p:nvPr/>
        </p:nvSpPr>
        <p:spPr>
          <a:xfrm>
            <a:off x="3200400" y="377647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Oncology — Highest Revenue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00400" y="42062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longest avg LOS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26480" y="2880360"/>
            <a:ext cx="2743200" cy="1828800"/>
          </a:xfrm>
          <a:prstGeom prst="rect">
            <a:avLst/>
          </a:prstGeom>
          <a:solidFill>
            <a:srgbClr val="0D2B45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2880360"/>
            <a:ext cx="27432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26480" y="30632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400" dirty="0"/>
          </a:p>
        </p:txBody>
      </p:sp>
      <p:sp>
        <p:nvSpPr>
          <p:cNvPr id="32" name="Text 30"/>
          <p:cNvSpPr/>
          <p:nvPr/>
        </p:nvSpPr>
        <p:spPr>
          <a:xfrm>
            <a:off x="6126480" y="377647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 Queries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126480" y="42062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RANK, LAG, NTILE, Rolling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Analysis Deep-Dive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777240"/>
          <a:ext cx="50292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577840" y="914400"/>
            <a:ext cx="32004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577840" y="914400"/>
            <a:ext cx="109728" cy="10058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60720" y="10058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32%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760720" y="14630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in Full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577840" y="2103120"/>
            <a:ext cx="32004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577840" y="2103120"/>
            <a:ext cx="109728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60720" y="21945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58%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5760720" y="26517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Payment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577840" y="3291840"/>
            <a:ext cx="32004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577840" y="3291840"/>
            <a:ext cx="109728" cy="10058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60720" y="33832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5760720" y="38404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577840" y="4526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Payment Methods: Insurance &gt; Card &gt; UPI &gt; Cash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SQL — Window Functions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27432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961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SUM() OVER()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154680" y="896112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revenue by month (running total)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399032"/>
            <a:ext cx="8595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399032"/>
            <a:ext cx="2743200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4904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RANK() OVER()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54680" y="1490472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rankings by admissions within department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1993392"/>
            <a:ext cx="8595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1993392"/>
            <a:ext cx="27432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0848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LAG()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154680" y="2084832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Month-over-month admission growth %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587752"/>
            <a:ext cx="8595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587752"/>
            <a:ext cx="2743200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6791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NTILE(4)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154680" y="2679192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billing quartile classification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3182112"/>
            <a:ext cx="8595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182112"/>
            <a:ext cx="27432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27355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AVG() OVER(ROWS)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154680" y="3273552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3-month rolling average of admissions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3776472"/>
            <a:ext cx="8595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776472"/>
            <a:ext cx="2743200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8679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DENSE_RANK()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154680" y="3867912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lifetime value (LTV) ranking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74320" y="4370832"/>
            <a:ext cx="8595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4370832"/>
            <a:ext cx="27432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4622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PERCENT_RANK()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154680" y="4462272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percentile per patient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&amp; Clinical Insights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777240"/>
          <a:ext cx="45720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120640" y="822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Clinical Findings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120640" y="1280160"/>
            <a:ext cx="36576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Cancer cases (Oncology) have the highest avg bill &amp; LOS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dept handles most Critical severity cases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Stroke &amp; Heart conditions dominate 50+ age group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Pediatric cases peak in winter months (Emergency)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Readmission rate: ~15% of patients admitted 2+ times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lab results highest in Oncology &amp; Cardiology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Concepts Demonstrated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141732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097280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 / Schema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28800" y="96012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TABLE, ALTER TABLE, Foreign Keys, ENUMs, Constraints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09160" y="822960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822960"/>
            <a:ext cx="1417320" cy="914400"/>
          </a:xfrm>
          <a:prstGeom prst="rect">
            <a:avLst/>
          </a:prstGeom>
          <a:solidFill>
            <a:srgbClr val="1C7293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82312" y="1097280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63640" y="96012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SUM, AVG, COUNT, MIN, MAX with GROUP BY &amp; HAVING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1865376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1865376"/>
            <a:ext cx="141732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2139696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0" y="2002536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JOIN, LEFT JOIN across 5+ tables simultaneously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09160" y="1865376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1865376"/>
            <a:ext cx="1417320" cy="914400"/>
          </a:xfrm>
          <a:prstGeom prst="rect">
            <a:avLst/>
          </a:prstGeom>
          <a:solidFill>
            <a:srgbClr val="1C7293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139696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WHEN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63640" y="2002536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scoring, age bucketing, dynamic categorization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2907792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907792"/>
            <a:ext cx="141732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3182112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Subqueries / CTEs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828800" y="304495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subqueries for trend &amp; percentile analysis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09160" y="2907792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2907792"/>
            <a:ext cx="1417320" cy="914400"/>
          </a:xfrm>
          <a:prstGeom prst="rect">
            <a:avLst/>
          </a:prstGeom>
          <a:solidFill>
            <a:srgbClr val="1C7293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82312" y="3182112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63640" y="304495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RANK, DENSE_RANK, LAG, NTILE, PERCENT_RANK, rolling AVG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3950208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3950208"/>
            <a:ext cx="141732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4224528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828800" y="408736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vw_hospital_dashboard — 9 KPIs in a single row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09160" y="3950208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09160" y="3950208"/>
            <a:ext cx="1417320" cy="914400"/>
          </a:xfrm>
          <a:prstGeom prst="rect">
            <a:avLst/>
          </a:prstGeom>
          <a:solidFill>
            <a:srgbClr val="1C7293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82312" y="4224528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Handling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63640" y="408736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COALESCE, NULLIF for safe division &amp; missing data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Data Analysis — SQL Project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2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github.com/rushikesh-ds/hospital-sql-analysis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4224528"/>
            <a:ext cx="1371600" cy="347472"/>
          </a:xfrm>
          <a:prstGeom prst="rect">
            <a:avLst/>
          </a:prstGeom>
          <a:solidFill>
            <a:srgbClr val="0D2B45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22452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8.0+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0" y="4224528"/>
            <a:ext cx="1371600" cy="347472"/>
          </a:xfrm>
          <a:prstGeom prst="rect">
            <a:avLst/>
          </a:prstGeom>
          <a:solidFill>
            <a:srgbClr val="0D2B45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422452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840480" y="4224528"/>
            <a:ext cx="1371600" cy="347472"/>
          </a:xfrm>
          <a:prstGeom prst="rect">
            <a:avLst/>
          </a:prstGeom>
          <a:solidFill>
            <a:srgbClr val="0D2B45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0" y="422452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Tables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394960" y="4224528"/>
            <a:ext cx="1371600" cy="347472"/>
          </a:xfrm>
          <a:prstGeom prst="rect">
            <a:avLst/>
          </a:prstGeom>
          <a:solidFill>
            <a:srgbClr val="0D2B45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0" y="422452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 Queries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949440" y="4224528"/>
            <a:ext cx="1371600" cy="347472"/>
          </a:xfrm>
          <a:prstGeom prst="rect">
            <a:avLst/>
          </a:prstGeom>
          <a:solidFill>
            <a:srgbClr val="0D2B45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0" y="422452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Dashboard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Hospital Data Analysis - SQL Project</dc:title>
  <dc:subject>PptxGenJS Presentation</dc:subject>
  <dc:creator>PptxGenJS</dc:creator>
  <cp:lastModifiedBy>PptxGenJS</cp:lastModifiedBy>
  <cp:revision>1</cp:revision>
  <dcterms:created xsi:type="dcterms:W3CDTF">2026-03-07T10:17:15Z</dcterms:created>
  <dcterms:modified xsi:type="dcterms:W3CDTF">2026-03-07T10:17:15Z</dcterms:modified>
</cp:coreProperties>
</file>